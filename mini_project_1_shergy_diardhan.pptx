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Abadi" panose="020B0604020104020204" pitchFamily="34" charset="0"/>
      <p:regular r:id="rId8"/>
      <p:bold r:id="rId9"/>
    </p:embeddedFont>
    <p:embeddedFont>
      <p:font typeface="Constantia" panose="02030602050306030303" pitchFamily="18" charset="0"/>
      <p:regular r:id="rId10"/>
      <p:bold r:id="rId11"/>
      <p:italic r:id="rId12"/>
      <p:boldItalic r:id="rId13"/>
    </p:embeddedFont>
    <p:embeddedFont>
      <p:font typeface="Fira Code" panose="020B0809050000020004" pitchFamily="49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4240410"/>
            <a:ext cx="11430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1969889"/>
            <a:ext cx="446276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F46E5"/>
                </a:solidFill>
                <a:latin typeface="Fira Code"/>
              </a:rPr>
              <a:t>MINI PROJECT 1 • </a:t>
            </a:r>
            <a:r>
              <a:rPr lang="en-US" sz="1200" dirty="0">
                <a:solidFill>
                  <a:srgbClr val="4F46E5"/>
                </a:solidFill>
                <a:latin typeface="Fira Code"/>
              </a:rPr>
              <a:t>AI AUTOMATION ENGINEER – PPKDJB</a:t>
            </a:r>
            <a:endParaRPr sz="1200" b="0" i="0" u="none" dirty="0">
              <a:solidFill>
                <a:srgbClr val="4F46E5"/>
              </a:solidFill>
              <a:latin typeface="Fira Cod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2500" y="2350889"/>
            <a:ext cx="10101262" cy="151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 i="0" u="none" dirty="0">
                <a:solidFill>
                  <a:srgbClr val="FAFAFA"/>
                </a:solidFill>
                <a:latin typeface="Constantia" panose="02030602050306030303" pitchFamily="18" charset="0"/>
              </a:rPr>
              <a:t>Fetching</a:t>
            </a:r>
            <a:r>
              <a:rPr sz="5400" b="1" i="0" u="none" dirty="0">
                <a:solidFill>
                  <a:srgbClr val="FAFAFA"/>
                </a:solidFill>
                <a:latin typeface="Constantia" panose="02030602050306030303" pitchFamily="18" charset="0"/>
              </a:rPr>
              <a:t> &amp; </a:t>
            </a:r>
            <a:r>
              <a:rPr sz="5400" b="1" i="0" u="none" dirty="0" err="1">
                <a:solidFill>
                  <a:srgbClr val="FAFAFA"/>
                </a:solidFill>
                <a:latin typeface="Constantia" panose="02030602050306030303" pitchFamily="18" charset="0"/>
              </a:rPr>
              <a:t>Pembersihan</a:t>
            </a:r>
            <a:r>
              <a:rPr sz="5400" b="1" i="0" u="none" dirty="0">
                <a:solidFill>
                  <a:srgbClr val="FAFAFA"/>
                </a:solidFill>
                <a:latin typeface="Constantia" panose="02030602050306030303" pitchFamily="18" charset="0"/>
              </a:rPr>
              <a:t> Data TMDB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659510"/>
            <a:ext cx="15454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Shergy Diardhan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3220342"/>
            <a:ext cx="3810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00" y="4087117"/>
            <a:ext cx="381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00" y="4953892"/>
            <a:ext cx="381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0"/>
            <a:ext cx="41148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1342132"/>
            <a:ext cx="96661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F46E5"/>
                </a:solidFill>
                <a:latin typeface="Constantia" panose="02030602050306030303" pitchFamily="18" charset="0"/>
              </a:rPr>
              <a:t>SUMBER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1665982"/>
            <a:ext cx="6580822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The Movie Database (TMDB)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220342"/>
            <a:ext cx="33804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Banyak Data yang Bisa Diambil</a:t>
            </a:r>
            <a:endParaRPr sz="180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100" y="3582292"/>
            <a:ext cx="382284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Bisa </a:t>
            </a:r>
            <a:r>
              <a:rPr lang="en-US"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untuk</a:t>
            </a:r>
            <a:r>
              <a:rPr lang="en-US"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melengkapi</a:t>
            </a:r>
            <a:r>
              <a:rPr lang="en-US"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aturan</a:t>
            </a:r>
            <a:r>
              <a:rPr lang="en-US"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minimal 100 data </a:t>
            </a:r>
            <a:r>
              <a:rPr lang="en-US"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bersih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1100" y="4087117"/>
            <a:ext cx="20985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Format </a:t>
            </a:r>
            <a:r>
              <a:rPr sz="180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Terstruktur</a:t>
            </a:r>
            <a:endParaRPr sz="180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1100" y="4449067"/>
            <a:ext cx="200683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Respons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JSON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mudah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diurai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4953892"/>
            <a:ext cx="163076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API Key Gratis!</a:t>
            </a:r>
            <a:endParaRPr sz="180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1100" y="5315842"/>
            <a:ext cx="5442513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API Key-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nya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bisa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digunakan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dalam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project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ini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tanpa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mengeluarkan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Abadi" panose="020F0502020204030204" pitchFamily="34" charset="0"/>
              </a:rPr>
              <a:t>sepersenpun</a:t>
            </a:r>
            <a:r>
              <a:rPr lang="en-US" sz="1350" dirty="0">
                <a:solidFill>
                  <a:srgbClr val="52525B"/>
                </a:solidFill>
                <a:latin typeface="Abadi" panose="020F0502020204030204" pitchFamily="34" charset="0"/>
              </a:rPr>
              <a:t> uang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pic>
        <p:nvPicPr>
          <p:cNvPr id="15" name="Picture 14" descr="TMDb - Movie Database TvShow - Apps on Google Play">
            <a:extLst>
              <a:ext uri="{FF2B5EF4-FFF2-40B4-BE49-F238E27FC236}">
                <a16:creationId xmlns:a16="http://schemas.microsoft.com/office/drawing/2014/main" id="{11AB8E8A-CC9A-3E88-9624-1E7B9ED13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24" t="-3961" r="13976" b="828"/>
          <a:stretch>
            <a:fillRect/>
          </a:stretch>
        </p:blipFill>
        <p:spPr>
          <a:xfrm>
            <a:off x="7268016" y="-274442"/>
            <a:ext cx="4923984" cy="7132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2066925"/>
            <a:ext cx="4838700" cy="402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2066925"/>
            <a:ext cx="4838700" cy="402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00" y="2066925"/>
            <a:ext cx="483870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2066925"/>
            <a:ext cx="483870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762000"/>
            <a:ext cx="31098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172A"/>
                </a:solidFill>
                <a:latin typeface="Constantia" panose="02030602050306030303" pitchFamily="18" charset="0"/>
              </a:rPr>
              <a:t>OOP</a:t>
            </a:r>
            <a:endParaRPr sz="1050" b="1" i="0" u="none" dirty="0">
              <a:solidFill>
                <a:srgbClr val="0F172A"/>
              </a:solidFill>
              <a:latin typeface="Constantia" panose="0203060205030603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2500" y="1085850"/>
            <a:ext cx="479939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Struktur</a:t>
            </a:r>
            <a:r>
              <a:rPr sz="30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 Class </a:t>
            </a:r>
            <a:r>
              <a:rPr sz="3000" b="1" i="0" u="none" dirty="0" err="1">
                <a:solidFill>
                  <a:srgbClr val="4F46E5"/>
                </a:solidFill>
                <a:latin typeface="Constantia" panose="02030602050306030303" pitchFamily="18" charset="0"/>
              </a:rPr>
              <a:t>KlienTMDB</a:t>
            </a:r>
            <a:endParaRPr sz="3000" b="1" i="0" u="none" dirty="0">
              <a:solidFill>
                <a:srgbClr val="4F46E5"/>
              </a:solidFill>
              <a:latin typeface="Constantia" panose="0203060205030603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00" y="2314575"/>
            <a:ext cx="21034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State &amp; </a:t>
            </a:r>
            <a:r>
              <a:rPr sz="180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Konfigurasi</a:t>
            </a:r>
            <a:endParaRPr sz="180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2314575"/>
            <a:ext cx="164378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Logika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905125"/>
            <a:ext cx="6048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Fira Code"/>
              </a:rPr>
              <a:t>self.headers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591" y="3140988"/>
            <a:ext cx="545120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/>
              <a:t>Disimpan</a:t>
            </a:r>
            <a:r>
              <a:rPr lang="en-US" sz="1400" dirty="0"/>
              <a:t>/</a:t>
            </a:r>
            <a:r>
              <a:rPr lang="en-US" sz="1400" dirty="0" err="1"/>
              <a:t>dibuat</a:t>
            </a:r>
            <a:r>
              <a:rPr lang="en-US" sz="1400" dirty="0"/>
              <a:t> </a:t>
            </a:r>
            <a:r>
              <a:rPr lang="en-US" sz="1400" dirty="0" err="1"/>
              <a:t>cetakan</a:t>
            </a:r>
            <a:r>
              <a:rPr lang="en-US" sz="1400" dirty="0"/>
              <a:t>  agar </a:t>
            </a:r>
            <a:r>
              <a:rPr lang="en-US" sz="1400" dirty="0" err="1"/>
              <a:t>kunci</a:t>
            </a:r>
            <a:r>
              <a:rPr lang="en-US" sz="1400" dirty="0"/>
              <a:t> </a:t>
            </a:r>
            <a:r>
              <a:rPr lang="en-US" sz="1400" dirty="0" err="1"/>
              <a:t>akses</a:t>
            </a:r>
            <a:r>
              <a:rPr lang="en-US" sz="1400" dirty="0"/>
              <a:t> (TOKEN) </a:t>
            </a:r>
            <a:r>
              <a:rPr lang="en-US" sz="1400" dirty="0" err="1"/>
              <a:t>cukup</a:t>
            </a:r>
            <a:r>
              <a:rPr lang="en-US" sz="1400" dirty="0"/>
              <a:t> </a:t>
            </a:r>
            <a:r>
              <a:rPr lang="en-US" sz="1400" dirty="0" err="1"/>
              <a:t>ditulis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kali dan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diketik</a:t>
            </a:r>
            <a:r>
              <a:rPr lang="en-US" sz="1400" dirty="0"/>
              <a:t> </a:t>
            </a:r>
            <a:r>
              <a:rPr lang="en-US" sz="1400" dirty="0" err="1"/>
              <a:t>berulang-ulang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kali </a:t>
            </a:r>
            <a:r>
              <a:rPr lang="en-US" sz="1400" dirty="0" err="1"/>
              <a:t>meminta</a:t>
            </a:r>
            <a:r>
              <a:rPr lang="en-US" sz="1400" dirty="0"/>
              <a:t> data. 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2500" y="3657600"/>
            <a:ext cx="6048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4F46E5"/>
                </a:solidFill>
                <a:latin typeface="Fira Code"/>
              </a:rPr>
              <a:t>self.alamat_api</a:t>
            </a:r>
            <a:endParaRPr sz="1500" b="1" i="0" u="none" dirty="0">
              <a:solidFill>
                <a:srgbClr val="4F46E5"/>
              </a:solidFill>
              <a:latin typeface="Fira Cod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2501" y="3965897"/>
            <a:ext cx="525153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Alamat web </a:t>
            </a:r>
            <a:r>
              <a:rPr lang="en-US" sz="1400" dirty="0" err="1"/>
              <a:t>disimpan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atribut</a:t>
            </a:r>
            <a:r>
              <a:rPr lang="en-US" sz="1400" dirty="0"/>
              <a:t> agar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rapi</a:t>
            </a:r>
            <a:r>
              <a:rPr lang="en-US" sz="1400" dirty="0"/>
              <a:t> dan </a:t>
            </a:r>
            <a:r>
              <a:rPr lang="en-US" sz="1400" dirty="0" err="1"/>
              <a:t>mudah</a:t>
            </a:r>
            <a:r>
              <a:rPr lang="en-US" sz="1400" dirty="0"/>
              <a:t> </a:t>
            </a:r>
            <a:r>
              <a:rPr lang="en-US" sz="1400" dirty="0" err="1"/>
              <a:t>diganti</a:t>
            </a:r>
            <a:r>
              <a:rPr lang="en-US" sz="1400" dirty="0"/>
              <a:t>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sewaktu-waktu</a:t>
            </a:r>
            <a:r>
              <a:rPr lang="en-US" sz="1400" dirty="0"/>
              <a:t> </a:t>
            </a:r>
            <a:r>
              <a:rPr lang="en-US" sz="1400" dirty="0" err="1"/>
              <a:t>sumber</a:t>
            </a:r>
            <a:r>
              <a:rPr lang="en-US" sz="1400" dirty="0"/>
              <a:t> </a:t>
            </a:r>
            <a:r>
              <a:rPr lang="en-US" sz="1400" dirty="0" err="1"/>
              <a:t>datanya</a:t>
            </a:r>
            <a:r>
              <a:rPr lang="en-US" sz="1400" dirty="0"/>
              <a:t> </a:t>
            </a:r>
            <a:r>
              <a:rPr lang="en-US" sz="1400" dirty="0" err="1"/>
              <a:t>berubah</a:t>
            </a:r>
            <a:r>
              <a:rPr lang="en-US" sz="1400" dirty="0"/>
              <a:t>, </a:t>
            </a:r>
            <a:r>
              <a:rPr lang="en-US" sz="1400" dirty="0" err="1"/>
              <a:t>tanpa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mengacak-acak</a:t>
            </a:r>
            <a:r>
              <a:rPr lang="en-US" sz="1400" dirty="0"/>
              <a:t> </a:t>
            </a:r>
            <a:r>
              <a:rPr lang="en-US" sz="1400" dirty="0" err="1"/>
              <a:t>kode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.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9591" y="4772587"/>
            <a:ext cx="6048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Fira Code"/>
              </a:rPr>
              <a:t>self.peta_genre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1" y="5058821"/>
            <a:ext cx="50354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/>
              <a:t>Tempat</a:t>
            </a:r>
            <a:r>
              <a:rPr lang="en-US" sz="1400" dirty="0"/>
              <a:t> </a:t>
            </a:r>
            <a:r>
              <a:rPr lang="en-US" sz="1400" dirty="0" err="1"/>
              <a:t>menyimpan</a:t>
            </a:r>
            <a:r>
              <a:rPr lang="en-US" sz="1400" dirty="0"/>
              <a:t> daftar nama genre </a:t>
            </a:r>
            <a:r>
              <a:rPr lang="en-US" sz="1400" dirty="0" err="1"/>
              <a:t>sementara</a:t>
            </a:r>
            <a:r>
              <a:rPr lang="en-US" sz="1400" dirty="0"/>
              <a:t> agar program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bolak-balik</a:t>
            </a:r>
            <a:r>
              <a:rPr lang="en-US" sz="1400" dirty="0"/>
              <a:t> </a:t>
            </a:r>
            <a:r>
              <a:rPr lang="en-US" sz="1400" dirty="0" err="1"/>
              <a:t>meminta</a:t>
            </a:r>
            <a:r>
              <a:rPr lang="en-US" sz="1400" dirty="0"/>
              <a:t> data </a:t>
            </a:r>
            <a:r>
              <a:rPr lang="en-US" sz="1400" dirty="0" err="1"/>
              <a:t>ke</a:t>
            </a:r>
            <a:r>
              <a:rPr lang="en-US" sz="1400" dirty="0"/>
              <a:t> internet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mengecek</a:t>
            </a:r>
            <a:r>
              <a:rPr lang="en-US" sz="1400" dirty="0"/>
              <a:t> nama genre di </a:t>
            </a:r>
            <a:r>
              <a:rPr lang="en-US" sz="1400" dirty="0" err="1"/>
              <a:t>setiap</a:t>
            </a:r>
            <a:r>
              <a:rPr lang="en-US" sz="1400" dirty="0"/>
              <a:t> film.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905125"/>
            <a:ext cx="5791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Fira Code"/>
              </a:rPr>
              <a:t>_minta()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6038" y="3091071"/>
            <a:ext cx="54483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/>
              <a:t>Berfungsi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pelindung</a:t>
            </a:r>
            <a:r>
              <a:rPr lang="en-US" sz="1400" dirty="0"/>
              <a:t> (</a:t>
            </a:r>
            <a:r>
              <a:rPr lang="en-US" sz="1400" dirty="0" err="1"/>
              <a:t>menggunakan</a:t>
            </a:r>
            <a:r>
              <a:rPr lang="en-US" sz="1400" dirty="0"/>
              <a:t> try-except). Kalau </a:t>
            </a:r>
            <a:r>
              <a:rPr lang="en-US" sz="1400" dirty="0" err="1"/>
              <a:t>koneksi</a:t>
            </a:r>
            <a:r>
              <a:rPr lang="en-US" sz="1400" dirty="0"/>
              <a:t> internet </a:t>
            </a:r>
            <a:r>
              <a:rPr lang="en-US" sz="1400" dirty="0" err="1"/>
              <a:t>tiba-tiba</a:t>
            </a:r>
            <a:r>
              <a:rPr lang="en-US" sz="1400" dirty="0"/>
              <a:t> </a:t>
            </a:r>
            <a:r>
              <a:rPr lang="en-US" sz="1400" dirty="0" err="1"/>
              <a:t>bermasalah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lambat</a:t>
            </a:r>
            <a:r>
              <a:rPr lang="en-US" sz="1400" dirty="0"/>
              <a:t>, program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mencoba</a:t>
            </a:r>
            <a:r>
              <a:rPr lang="en-US" sz="1400" dirty="0"/>
              <a:t> </a:t>
            </a:r>
            <a:r>
              <a:rPr lang="en-US" sz="1400" dirty="0" err="1"/>
              <a:t>lagi</a:t>
            </a:r>
            <a:r>
              <a:rPr lang="en-US" sz="1400" dirty="0"/>
              <a:t> dan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i="1" dirty="0"/>
              <a:t>error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mati</a:t>
            </a:r>
            <a:r>
              <a:rPr lang="en-US" sz="1400" dirty="0"/>
              <a:t> total.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3965897"/>
            <a:ext cx="5791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Fira Code"/>
              </a:rPr>
              <a:t>_</a:t>
            </a:r>
            <a:r>
              <a:rPr sz="1500" b="1" i="0" u="none" dirty="0" err="1">
                <a:solidFill>
                  <a:srgbClr val="0F172A"/>
                </a:solidFill>
                <a:latin typeface="Fira Code"/>
              </a:rPr>
              <a:t>muat_genre</a:t>
            </a:r>
            <a:r>
              <a:rPr sz="1500" b="1" i="0" u="none" dirty="0">
                <a:solidFill>
                  <a:srgbClr val="0F172A"/>
                </a:solidFill>
                <a:latin typeface="Fira Code"/>
              </a:rPr>
              <a:t>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89746"/>
            <a:ext cx="544353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/>
              <a:t>Dipisahkan</a:t>
            </a:r>
            <a:r>
              <a:rPr lang="en-US" sz="1400" dirty="0"/>
              <a:t> </a:t>
            </a:r>
            <a:r>
              <a:rPr lang="en-US" sz="1400" dirty="0" err="1"/>
              <a:t>khusus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mengambil</a:t>
            </a:r>
            <a:r>
              <a:rPr lang="en-US" sz="1400" dirty="0"/>
              <a:t> daftar nama genre di </a:t>
            </a:r>
            <a:r>
              <a:rPr lang="en-US" sz="1400" dirty="0" err="1"/>
              <a:t>awal</a:t>
            </a:r>
            <a:r>
              <a:rPr lang="en-US" sz="1400" dirty="0"/>
              <a:t>. </a:t>
            </a:r>
            <a:r>
              <a:rPr lang="en-US" sz="1400" dirty="0" err="1"/>
              <a:t>Memastikan</a:t>
            </a:r>
            <a:r>
              <a:rPr lang="en-US" sz="1400" dirty="0"/>
              <a:t> data </a:t>
            </a:r>
            <a:r>
              <a:rPr lang="en-US" sz="1400" dirty="0" err="1"/>
              <a:t>genrenya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siap</a:t>
            </a:r>
            <a:r>
              <a:rPr lang="en-US" sz="1400" dirty="0"/>
              <a:t>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mulai</a:t>
            </a:r>
            <a:r>
              <a:rPr lang="en-US" sz="1400" dirty="0"/>
              <a:t> </a:t>
            </a:r>
            <a:r>
              <a:rPr lang="en-US" sz="1400" dirty="0" err="1"/>
              <a:t>memanggil</a:t>
            </a:r>
            <a:r>
              <a:rPr lang="en-US" sz="1400" dirty="0"/>
              <a:t> data </a:t>
            </a:r>
            <a:r>
              <a:rPr lang="en-US" sz="1400" dirty="0" err="1"/>
              <a:t>filmnya</a:t>
            </a:r>
            <a:r>
              <a:rPr lang="en-US" sz="1400" dirty="0"/>
              <a:t>. 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5172075"/>
            <a:ext cx="5791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Fira Code"/>
              </a:rPr>
              <a:t>ambil_film</a:t>
            </a:r>
            <a:r>
              <a:rPr sz="1500" b="1" i="0" u="none" dirty="0">
                <a:solidFill>
                  <a:srgbClr val="0F172A"/>
                </a:solidFill>
                <a:latin typeface="Fira Code"/>
              </a:rPr>
              <a:t>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95924"/>
            <a:ext cx="544353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/>
              <a:t>Berfungsi</a:t>
            </a:r>
            <a:r>
              <a:rPr lang="en-US" sz="1400" dirty="0"/>
              <a:t> </a:t>
            </a:r>
            <a:r>
              <a:rPr lang="en-US" sz="1400" dirty="0" err="1"/>
              <a:t>menyatukan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langkah</a:t>
            </a:r>
            <a:r>
              <a:rPr lang="en-US" sz="1400" dirty="0"/>
              <a:t>: </a:t>
            </a:r>
            <a:r>
              <a:rPr lang="en-US" sz="1400" dirty="0" err="1"/>
              <a:t>memanggil</a:t>
            </a:r>
            <a:r>
              <a:rPr lang="en-US" sz="1400" dirty="0"/>
              <a:t> data </a:t>
            </a:r>
            <a:r>
              <a:rPr lang="en-US" sz="1400" dirty="0" err="1"/>
              <a:t>dari</a:t>
            </a:r>
            <a:r>
              <a:rPr lang="en-US" sz="1400" dirty="0"/>
              <a:t> API, </a:t>
            </a:r>
            <a:r>
              <a:rPr lang="en-US" sz="1400" dirty="0" err="1"/>
              <a:t>mencocokkan</a:t>
            </a:r>
            <a:r>
              <a:rPr lang="en-US" sz="1400" dirty="0"/>
              <a:t> nama genre, dan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dirty="0" err="1"/>
              <a:t>menyusunnya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bentuk</a:t>
            </a:r>
            <a:r>
              <a:rPr lang="en-US" sz="1400" dirty="0"/>
              <a:t> </a:t>
            </a:r>
            <a:r>
              <a:rPr lang="en-US" sz="1400" dirty="0" err="1"/>
              <a:t>tabel</a:t>
            </a:r>
            <a:r>
              <a:rPr lang="en-US" sz="1400" dirty="0"/>
              <a:t> yang </a:t>
            </a:r>
            <a:r>
              <a:rPr lang="en-US" sz="1400" dirty="0" err="1"/>
              <a:t>rapi</a:t>
            </a:r>
            <a:r>
              <a:rPr lang="en-US" sz="1400" dirty="0"/>
              <a:t>.</a:t>
            </a:r>
            <a:endParaRPr sz="135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2319337"/>
            <a:ext cx="4991100" cy="15906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319337"/>
            <a:ext cx="4991100" cy="15906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00" y="4214812"/>
            <a:ext cx="4991100" cy="15906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4214812"/>
            <a:ext cx="4991100" cy="15906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263366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633662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45291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529137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762000"/>
            <a:ext cx="138820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F46E5"/>
                </a:solidFill>
                <a:latin typeface="Constantia" panose="02030602050306030303" pitchFamily="18" charset="0"/>
              </a:rPr>
              <a:t>PEMBERSIHAN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085850"/>
            <a:ext cx="403078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Keputusan </a:t>
            </a:r>
            <a:r>
              <a:rPr sz="300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Modifikasi</a:t>
            </a:r>
            <a:endParaRPr sz="300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66825" y="2921462"/>
            <a:ext cx="154196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Isi Teks </a:t>
            </a:r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Kosong</a:t>
            </a:r>
            <a:endParaRPr sz="165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66825" y="3137583"/>
            <a:ext cx="328634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Menyelamatkan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metrik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berharga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di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kolom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909753"/>
            <a:ext cx="200862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Hapus Data </a:t>
            </a:r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Kembar</a:t>
            </a:r>
            <a:endParaRPr sz="165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62725" y="3153558"/>
            <a:ext cx="346409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Mencegah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bias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penghitungan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ganda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saat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analisis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4811270"/>
            <a:ext cx="202792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Buang </a:t>
            </a:r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Judul</a:t>
            </a:r>
            <a:r>
              <a:rPr sz="165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 </a:t>
            </a:r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Kosong</a:t>
            </a:r>
            <a:endParaRPr sz="165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66825" y="5025582"/>
            <a:ext cx="300890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Entitas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tanpa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identitas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tidak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bisa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dianalisis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4820794"/>
            <a:ext cx="219592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Konversi</a:t>
            </a:r>
            <a:r>
              <a:rPr sz="165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 </a:t>
            </a:r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Tipe</a:t>
            </a:r>
            <a:r>
              <a:rPr sz="165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 </a:t>
            </a:r>
            <a:r>
              <a:rPr sz="165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Tanggal</a:t>
            </a:r>
            <a:endParaRPr sz="165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2250" y="5094125"/>
            <a:ext cx="329808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Membuka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opsi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analisis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berbasis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tren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52525B"/>
                </a:solidFill>
                <a:latin typeface="Abadi" panose="020F0502020204030204" pitchFamily="34" charset="0"/>
              </a:rPr>
              <a:t>kronologi</a:t>
            </a:r>
            <a:r>
              <a:rPr sz="1350" b="0" i="0" u="none" dirty="0">
                <a:solidFill>
                  <a:srgbClr val="52525B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02BB96-CE38-6E8E-8D7E-2636A5C36489}"/>
              </a:ext>
            </a:extLst>
          </p:cNvPr>
          <p:cNvSpPr txBox="1"/>
          <p:nvPr/>
        </p:nvSpPr>
        <p:spPr>
          <a:xfrm>
            <a:off x="1266825" y="5306496"/>
            <a:ext cx="44857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/>
              <a:t>Karena </a:t>
            </a:r>
            <a:r>
              <a:rPr lang="en-US" sz="1200" dirty="0" err="1"/>
              <a:t>kalau</a:t>
            </a:r>
            <a:r>
              <a:rPr lang="en-US" sz="1200" dirty="0"/>
              <a:t> </a:t>
            </a:r>
            <a:r>
              <a:rPr lang="en-US" sz="1200" dirty="0" err="1"/>
              <a:t>judulnya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, </a:t>
            </a:r>
            <a:r>
              <a:rPr lang="en-US" sz="1200" dirty="0" err="1"/>
              <a:t>filmnya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dicari</a:t>
            </a:r>
            <a:r>
              <a:rPr lang="en-US" sz="1200" dirty="0"/>
              <a:t> dan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berguna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dianalisis</a:t>
            </a:r>
            <a:r>
              <a:rPr lang="en-US" sz="1200" dirty="0"/>
              <a:t>.</a:t>
            </a:r>
            <a:endParaRPr sz="105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AFEA30-6F82-F54B-0CEE-3B19A91B3C22}"/>
              </a:ext>
            </a:extLst>
          </p:cNvPr>
          <p:cNvSpPr txBox="1"/>
          <p:nvPr/>
        </p:nvSpPr>
        <p:spPr>
          <a:xfrm>
            <a:off x="6572250" y="3442882"/>
            <a:ext cx="45693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err="1"/>
              <a:t>Dihapus</a:t>
            </a:r>
            <a:r>
              <a:rPr lang="en-US" sz="1200" dirty="0"/>
              <a:t> salah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supaya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film yang </a:t>
            </a:r>
            <a:r>
              <a:rPr lang="en-US" sz="1200" dirty="0" err="1"/>
              <a:t>terhitung</a:t>
            </a:r>
            <a:r>
              <a:rPr lang="en-US" sz="1200" dirty="0"/>
              <a:t> dua kali, </a:t>
            </a:r>
            <a:r>
              <a:rPr lang="en-US" sz="1200" dirty="0" err="1"/>
              <a:t>jadi</a:t>
            </a:r>
            <a:r>
              <a:rPr lang="en-US" sz="1200" dirty="0"/>
              <a:t> </a:t>
            </a:r>
            <a:r>
              <a:rPr lang="en-US" sz="1200" dirty="0" err="1"/>
              <a:t>jumlah</a:t>
            </a:r>
            <a:r>
              <a:rPr lang="en-US" sz="1200" dirty="0"/>
              <a:t> total </a:t>
            </a:r>
            <a:r>
              <a:rPr lang="en-US" sz="1200" dirty="0" err="1"/>
              <a:t>filmnya</a:t>
            </a:r>
            <a:r>
              <a:rPr lang="en-US" sz="1200" dirty="0"/>
              <a:t> </a:t>
            </a:r>
            <a:r>
              <a:rPr lang="en-US" sz="1200" dirty="0" err="1"/>
              <a:t>akurat</a:t>
            </a:r>
            <a:r>
              <a:rPr lang="en-US" sz="1200" dirty="0"/>
              <a:t>.</a:t>
            </a:r>
            <a:endParaRPr sz="120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A3D0C9-02F8-154F-C2F6-ACE3491AA404}"/>
              </a:ext>
            </a:extLst>
          </p:cNvPr>
          <p:cNvSpPr txBox="1"/>
          <p:nvPr/>
        </p:nvSpPr>
        <p:spPr>
          <a:xfrm>
            <a:off x="6562725" y="5330881"/>
            <a:ext cx="45693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err="1"/>
              <a:t>Diubah</a:t>
            </a:r>
            <a:r>
              <a:rPr lang="en-US" sz="1200" dirty="0"/>
              <a:t> </a:t>
            </a:r>
            <a:r>
              <a:rPr lang="en-US" sz="1200" dirty="0" err="1"/>
              <a:t>formatnya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format </a:t>
            </a:r>
            <a:r>
              <a:rPr lang="en-US" sz="1200" dirty="0" err="1"/>
              <a:t>tanggal</a:t>
            </a:r>
            <a:r>
              <a:rPr lang="en-US" sz="1200" dirty="0"/>
              <a:t> </a:t>
            </a:r>
            <a:r>
              <a:rPr lang="en-US" sz="1200" dirty="0" err="1"/>
              <a:t>komputer</a:t>
            </a:r>
            <a:r>
              <a:rPr lang="en-US" sz="1200" dirty="0"/>
              <a:t> agar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membaca</a:t>
            </a:r>
            <a:r>
              <a:rPr lang="en-US" sz="1200" dirty="0"/>
              <a:t> </a:t>
            </a:r>
            <a:r>
              <a:rPr lang="en-US" sz="1200" dirty="0" err="1"/>
              <a:t>urutan</a:t>
            </a:r>
            <a:r>
              <a:rPr lang="en-US" sz="1200" dirty="0"/>
              <a:t> </a:t>
            </a:r>
            <a:r>
              <a:rPr lang="en-US" sz="1200" dirty="0" err="1"/>
              <a:t>tahun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bulan</a:t>
            </a:r>
            <a:r>
              <a:rPr lang="en-US" sz="1200" dirty="0"/>
              <a:t> </a:t>
            </a:r>
            <a:r>
              <a:rPr lang="en-US" sz="1200" dirty="0" err="1"/>
              <a:t>rilis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benar</a:t>
            </a:r>
            <a:r>
              <a:rPr lang="en-US" sz="1200" dirty="0"/>
              <a:t>.</a:t>
            </a:r>
            <a:endParaRPr sz="120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0BF07A-35F0-4C13-72F7-14930CB7C468}"/>
              </a:ext>
            </a:extLst>
          </p:cNvPr>
          <p:cNvSpPr txBox="1"/>
          <p:nvPr/>
        </p:nvSpPr>
        <p:spPr>
          <a:xfrm>
            <a:off x="1266825" y="3442882"/>
            <a:ext cx="45693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err="1"/>
              <a:t>Diisi</a:t>
            </a:r>
            <a:r>
              <a:rPr lang="en-US" sz="1200" dirty="0"/>
              <a:t> tulisan manual (</a:t>
            </a:r>
            <a:r>
              <a:rPr lang="en-US" sz="1200" dirty="0" err="1"/>
              <a:t>seperti</a:t>
            </a:r>
            <a:r>
              <a:rPr lang="en-US" sz="1200" dirty="0"/>
              <a:t> 'Tidak Ada </a:t>
            </a:r>
            <a:r>
              <a:rPr lang="en-US" sz="1200" dirty="0" err="1"/>
              <a:t>Deskripsi</a:t>
            </a:r>
            <a:r>
              <a:rPr lang="en-US" sz="1200" dirty="0"/>
              <a:t>') agar info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lainnya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ikut</a:t>
            </a:r>
            <a:r>
              <a:rPr lang="en-US" sz="1200" dirty="0"/>
              <a:t> </a:t>
            </a:r>
            <a:r>
              <a:rPr lang="en-US" sz="1200" dirty="0" err="1"/>
              <a:t>terbuang</a:t>
            </a:r>
            <a:r>
              <a:rPr lang="en-US" sz="1200" dirty="0"/>
              <a:t>.</a:t>
            </a:r>
            <a:endParaRPr sz="1200" b="0" i="0" u="none" dirty="0">
              <a:solidFill>
                <a:srgbClr val="52525B"/>
              </a:solidFill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5489" y="4324350"/>
            <a:ext cx="39610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 err="1">
                <a:solidFill>
                  <a:srgbClr val="0F172A"/>
                </a:solidFill>
                <a:latin typeface="Abadi" panose="020F0502020204030204" pitchFamily="34" charset="0"/>
              </a:rPr>
              <a:t>Menampilkan</a:t>
            </a:r>
            <a:r>
              <a:rPr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 </a:t>
            </a:r>
            <a:r>
              <a:rPr lang="en-US"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5 </a:t>
            </a:r>
            <a:r>
              <a:rPr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 baris </a:t>
            </a:r>
            <a:r>
              <a:rPr sz="1050" b="0" i="0" u="none" dirty="0" err="1">
                <a:solidFill>
                  <a:srgbClr val="0F172A"/>
                </a:solidFill>
                <a:latin typeface="Abadi" panose="020F0502020204030204" pitchFamily="34" charset="0"/>
              </a:rPr>
              <a:t>pertama</a:t>
            </a:r>
            <a:r>
              <a:rPr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. Data </a:t>
            </a:r>
            <a:r>
              <a:rPr sz="1050" b="0" i="0" u="none" dirty="0" err="1">
                <a:solidFill>
                  <a:srgbClr val="0F172A"/>
                </a:solidFill>
                <a:latin typeface="Abadi" panose="020F0502020204030204" pitchFamily="34" charset="0"/>
              </a:rPr>
              <a:t>disortir</a:t>
            </a:r>
            <a:r>
              <a:rPr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 dan </a:t>
            </a:r>
            <a:r>
              <a:rPr sz="1050" b="0" i="0" u="none" dirty="0" err="1">
                <a:solidFill>
                  <a:srgbClr val="0F172A"/>
                </a:solidFill>
                <a:latin typeface="Abadi" panose="020F0502020204030204" pitchFamily="34" charset="0"/>
              </a:rPr>
              <a:t>diekspor</a:t>
            </a:r>
            <a:r>
              <a:rPr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 </a:t>
            </a:r>
            <a:r>
              <a:rPr sz="1050" b="0" i="0" u="none" dirty="0" err="1">
                <a:solidFill>
                  <a:srgbClr val="0F172A"/>
                </a:solidFill>
                <a:latin typeface="Abadi" panose="020F0502020204030204" pitchFamily="34" charset="0"/>
              </a:rPr>
              <a:t>ke</a:t>
            </a:r>
            <a:r>
              <a:rPr sz="1050" b="0" i="0" u="none" dirty="0">
                <a:solidFill>
                  <a:srgbClr val="0F172A"/>
                </a:solidFill>
                <a:latin typeface="Abadi" panose="020F0502020204030204" pitchFamily="34" charset="0"/>
              </a:rPr>
              <a:t> format CSV.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33425"/>
            <a:ext cx="8816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Constantia" panose="02030602050306030303" pitchFamily="18" charset="0"/>
              </a:rPr>
              <a:t>HASIL 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81075"/>
            <a:ext cx="396679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Cuplikan</a:t>
            </a:r>
            <a:r>
              <a:rPr sz="2700" b="1" i="0" u="none" dirty="0">
                <a:solidFill>
                  <a:srgbClr val="09090B"/>
                </a:solidFill>
                <a:latin typeface="Constantia" panose="02030602050306030303" pitchFamily="18" charset="0"/>
              </a:rPr>
              <a:t> Dataset </a:t>
            </a:r>
            <a:r>
              <a:rPr sz="2700" b="1" i="0" u="none" dirty="0" err="1">
                <a:solidFill>
                  <a:srgbClr val="09090B"/>
                </a:solidFill>
                <a:latin typeface="Constantia" panose="02030602050306030303" pitchFamily="18" charset="0"/>
              </a:rPr>
              <a:t>Bersih</a:t>
            </a:r>
            <a:endParaRPr sz="2700" b="1" i="0" u="none" dirty="0">
              <a:solidFill>
                <a:srgbClr val="09090B"/>
              </a:solidFill>
              <a:latin typeface="Constantia" panose="0203060205030603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21097" y="609600"/>
            <a:ext cx="908902" cy="6241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sz="4800" b="1" i="0" u="none" dirty="0">
                <a:solidFill>
                  <a:srgbClr val="4F46E5"/>
                </a:solidFill>
                <a:latin typeface="Constantia" panose="02030602050306030303" pitchFamily="18" charset="0"/>
              </a:rPr>
              <a:t>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1678" y="1219200"/>
            <a:ext cx="13583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Total Baris </a:t>
            </a:r>
            <a:r>
              <a:rPr sz="1200" b="1" i="0" u="none" dirty="0" err="1">
                <a:solidFill>
                  <a:srgbClr val="0F172A"/>
                </a:solidFill>
                <a:latin typeface="Abadi" panose="020F0502020204030204" pitchFamily="34" charset="0"/>
              </a:rPr>
              <a:t>Tersimpan</a:t>
            </a:r>
            <a:endParaRPr sz="1200" b="1" i="0" u="none" dirty="0">
              <a:solidFill>
                <a:srgbClr val="0F172A"/>
              </a:solidFill>
              <a:latin typeface="Abad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52CBB6-E84E-C1FC-04CE-872D1613A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49" y="1828800"/>
            <a:ext cx="9450902" cy="2103120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61294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2451794"/>
            <a:ext cx="200025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3947" y="3175694"/>
            <a:ext cx="5344092" cy="641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 dirty="0">
                <a:solidFill>
                  <a:srgbClr val="FAFAFA"/>
                </a:solidFill>
                <a:latin typeface="Constantia" panose="02030602050306030303" pitchFamily="18" charset="0"/>
              </a:rPr>
              <a:t>Data </a:t>
            </a:r>
            <a:r>
              <a:rPr sz="4200" b="1" i="0" u="none" dirty="0" err="1">
                <a:solidFill>
                  <a:srgbClr val="FAFAFA"/>
                </a:solidFill>
                <a:latin typeface="Constantia" panose="02030602050306030303" pitchFamily="18" charset="0"/>
              </a:rPr>
              <a:t>Siap</a:t>
            </a:r>
            <a:r>
              <a:rPr sz="4200" b="1" i="0" u="none" dirty="0">
                <a:solidFill>
                  <a:srgbClr val="FAFAFA"/>
                </a:solidFill>
                <a:latin typeface="Constantia" panose="02030602050306030303" pitchFamily="18" charset="0"/>
              </a:rPr>
              <a:t> </a:t>
            </a:r>
            <a:r>
              <a:rPr sz="4200" b="1" i="0" u="none" dirty="0" err="1">
                <a:solidFill>
                  <a:srgbClr val="FAFAFA"/>
                </a:solidFill>
                <a:latin typeface="Constantia" panose="02030602050306030303" pitchFamily="18" charset="0"/>
              </a:rPr>
              <a:t>Digunakan</a:t>
            </a:r>
            <a:endParaRPr sz="4200" b="1" i="0" u="none" dirty="0">
              <a:solidFill>
                <a:srgbClr val="FAFAFA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74118" y="4044255"/>
            <a:ext cx="7143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Dataset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telah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diekspor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 dan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siap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untuk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tahap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pemodelan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Abadi" panose="020F0502020204030204" pitchFamily="34" charset="0"/>
              </a:rPr>
              <a:t>analisis</a:t>
            </a:r>
            <a:r>
              <a:rPr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2CFE9-A71D-1ECF-CF0F-85A2F6A345FF}"/>
              </a:ext>
            </a:extLst>
          </p:cNvPr>
          <p:cNvSpPr txBox="1"/>
          <p:nvPr/>
        </p:nvSpPr>
        <p:spPr>
          <a:xfrm>
            <a:off x="2474118" y="4902349"/>
            <a:ext cx="7143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A1A1AA"/>
                </a:solidFill>
                <a:latin typeface="Abadi" panose="020F0502020204030204" pitchFamily="34" charset="0"/>
              </a:rPr>
              <a:t>SEKIAN, TERIMA KASIH</a:t>
            </a:r>
            <a:endParaRPr sz="1800" b="0" i="0" u="none" dirty="0">
              <a:solidFill>
                <a:srgbClr val="A1A1AA"/>
              </a:solidFill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389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Constantia</vt:lpstr>
      <vt:lpstr>Arial</vt:lpstr>
      <vt:lpstr>Calibri</vt:lpstr>
      <vt:lpstr>Abadi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Shergy Diardhan</dc:creator>
  <cp:keywords/>
  <dc:description>generated using python-pptx</dc:description>
  <cp:lastModifiedBy>Shergy Diardhan</cp:lastModifiedBy>
  <cp:revision>3</cp:revision>
  <dcterms:created xsi:type="dcterms:W3CDTF">2013-01-27T09:14:16Z</dcterms:created>
  <dcterms:modified xsi:type="dcterms:W3CDTF">2026-09-23T16:09:47Z</dcterms:modified>
  <cp:category/>
</cp:coreProperties>
</file>